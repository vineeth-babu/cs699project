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0" r:id="rId10"/>
    <p:sldId id="265" r:id="rId11"/>
    <p:sldId id="267" r:id="rId12"/>
    <p:sldId id="266" r:id="rId13"/>
    <p:sldId id="268" r:id="rId14"/>
    <p:sldId id="270" r:id="rId15"/>
    <p:sldId id="273" r:id="rId16"/>
    <p:sldId id="274" r:id="rId17"/>
    <p:sldId id="271" r:id="rId18"/>
    <p:sldId id="272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C7CA80-2F9E-486F-A93E-0BF3B8010E63}" v="45" dt="2025-11-24T10:38:22.8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9" d="100"/>
          <a:sy n="69" d="100"/>
        </p:scale>
        <p:origin x="1200" y="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7E1B1-388C-42AD-9CD6-3EF3B54A867E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F740-EB1A-486D-A80F-505081F01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408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7E1B1-388C-42AD-9CD6-3EF3B54A867E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F740-EB1A-486D-A80F-505081F01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040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7E1B1-388C-42AD-9CD6-3EF3B54A867E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F740-EB1A-486D-A80F-505081F01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815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7E1B1-388C-42AD-9CD6-3EF3B54A867E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F740-EB1A-486D-A80F-505081F01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119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7E1B1-388C-42AD-9CD6-3EF3B54A867E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F740-EB1A-486D-A80F-505081F01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35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7E1B1-388C-42AD-9CD6-3EF3B54A867E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F740-EB1A-486D-A80F-505081F01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666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7E1B1-388C-42AD-9CD6-3EF3B54A867E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F740-EB1A-486D-A80F-505081F01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5326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7E1B1-388C-42AD-9CD6-3EF3B54A867E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F740-EB1A-486D-A80F-505081F01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883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7E1B1-388C-42AD-9CD6-3EF3B54A867E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F740-EB1A-486D-A80F-505081F01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779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7E1B1-388C-42AD-9CD6-3EF3B54A867E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F740-EB1A-486D-A80F-505081F01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08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7E1B1-388C-42AD-9CD6-3EF3B54A867E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F740-EB1A-486D-A80F-505081F01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482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7E1B1-388C-42AD-9CD6-3EF3B54A867E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7F740-EB1A-486D-A80F-505081F01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879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980728"/>
            <a:ext cx="7772400" cy="1470025"/>
          </a:xfrm>
        </p:spPr>
        <p:txBody>
          <a:bodyPr/>
          <a:lstStyle/>
          <a:p>
            <a:r>
              <a:rPr lang="en-US" dirty="0" err="1"/>
              <a:t>IITBay</a:t>
            </a:r>
            <a:r>
              <a:rPr lang="en-US" dirty="0"/>
              <a:t>- Buy, Sell &amp; Lost-Found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648" y="2636912"/>
            <a:ext cx="6400800" cy="17526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Course</a:t>
            </a:r>
            <a:r>
              <a:rPr lang="en-US" dirty="0">
                <a:solidFill>
                  <a:schemeClr val="tx2"/>
                </a:solidFill>
              </a:rPr>
              <a:t>: CS699 – Software Lab</a:t>
            </a:r>
          </a:p>
          <a:p>
            <a:r>
              <a:rPr lang="en-US" b="1" dirty="0">
                <a:solidFill>
                  <a:schemeClr val="tx2"/>
                </a:solidFill>
              </a:rPr>
              <a:t>Instructor</a:t>
            </a:r>
            <a:r>
              <a:rPr lang="en-US" dirty="0">
                <a:solidFill>
                  <a:schemeClr val="tx2"/>
                </a:solidFill>
              </a:rPr>
              <a:t>: Prof. Om </a:t>
            </a:r>
            <a:r>
              <a:rPr lang="en-US" dirty="0" err="1">
                <a:solidFill>
                  <a:schemeClr val="tx2"/>
                </a:solidFill>
              </a:rPr>
              <a:t>Damani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04048" y="4797152"/>
            <a:ext cx="3888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Chittari</a:t>
            </a:r>
            <a:r>
              <a:rPr lang="en-US" dirty="0"/>
              <a:t> </a:t>
            </a:r>
            <a:r>
              <a:rPr lang="en-US" dirty="0" err="1"/>
              <a:t>Vineeth</a:t>
            </a:r>
            <a:r>
              <a:rPr lang="en-US" dirty="0"/>
              <a:t> </a:t>
            </a:r>
            <a:r>
              <a:rPr lang="en-US" dirty="0" err="1"/>
              <a:t>Babu</a:t>
            </a:r>
            <a:r>
              <a:rPr lang="en-US" dirty="0"/>
              <a:t> (25M0808)</a:t>
            </a:r>
          </a:p>
          <a:p>
            <a:r>
              <a:rPr lang="en-US" dirty="0" err="1"/>
              <a:t>Harshith</a:t>
            </a:r>
            <a:r>
              <a:rPr lang="en-US" dirty="0"/>
              <a:t> </a:t>
            </a:r>
            <a:r>
              <a:rPr lang="en-US" dirty="0" err="1"/>
              <a:t>Matta</a:t>
            </a:r>
            <a:r>
              <a:rPr lang="en-US" dirty="0"/>
              <a:t> (25M0834)</a:t>
            </a:r>
          </a:p>
          <a:p>
            <a:r>
              <a:rPr lang="en-US" dirty="0" err="1"/>
              <a:t>Jamala</a:t>
            </a:r>
            <a:r>
              <a:rPr lang="en-US" dirty="0"/>
              <a:t> </a:t>
            </a:r>
            <a:r>
              <a:rPr lang="en-US" dirty="0" err="1"/>
              <a:t>Mohana</a:t>
            </a:r>
            <a:r>
              <a:rPr lang="en-US" dirty="0"/>
              <a:t> </a:t>
            </a:r>
            <a:r>
              <a:rPr lang="en-US" dirty="0" err="1"/>
              <a:t>Sai</a:t>
            </a:r>
            <a:r>
              <a:rPr lang="en-US" dirty="0"/>
              <a:t> </a:t>
            </a:r>
            <a:r>
              <a:rPr lang="en-US" dirty="0" err="1"/>
              <a:t>Naik</a:t>
            </a:r>
            <a:r>
              <a:rPr lang="en-US" dirty="0"/>
              <a:t> (25M0815)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623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332656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Problem Statement :</a:t>
            </a:r>
            <a:endParaRPr lang="en-IN" sz="2400" dirty="0">
              <a:solidFill>
                <a:srgbClr val="7030A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0602" y="908720"/>
            <a:ext cx="524951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</a:pPr>
            <a:r>
              <a:rPr lang="en-US" dirty="0"/>
              <a:t>At IIT Bombay, students depend heavily on multiple </a:t>
            </a:r>
            <a:r>
              <a:rPr lang="en-US" dirty="0" err="1"/>
              <a:t>WhatsApp</a:t>
            </a:r>
            <a:r>
              <a:rPr lang="en-US" dirty="0"/>
              <a:t> groups for </a:t>
            </a:r>
            <a:r>
              <a:rPr lang="en-US" b="1" dirty="0"/>
              <a:t>Buy &amp; Sell</a:t>
            </a:r>
            <a:r>
              <a:rPr lang="en-US" dirty="0"/>
              <a:t> and </a:t>
            </a:r>
            <a:r>
              <a:rPr lang="en-US" b="1" dirty="0"/>
              <a:t>Lost &amp; Found</a:t>
            </a:r>
            <a:r>
              <a:rPr lang="en-US" dirty="0"/>
              <a:t> activities.</a:t>
            </a:r>
          </a:p>
          <a:p>
            <a:endParaRPr lang="en-US" dirty="0"/>
          </a:p>
          <a:p>
            <a:pPr>
              <a:buFont typeface="Arial"/>
              <a:buChar char="•"/>
            </a:pPr>
            <a:r>
              <a:rPr lang="en-US" dirty="0"/>
              <a:t>Each WhatsApp group has a </a:t>
            </a:r>
            <a:r>
              <a:rPr lang="en-US" b="1" dirty="0"/>
              <a:t>~1000-member limit</a:t>
            </a:r>
            <a:r>
              <a:rPr lang="en-US" dirty="0"/>
              <a:t>, leading to </a:t>
            </a:r>
            <a:r>
              <a:rPr lang="en-US" b="1" dirty="0"/>
              <a:t>4–5 separate groups</a:t>
            </a:r>
            <a:r>
              <a:rPr lang="en-US" dirty="0"/>
              <a:t> that students must monitor.</a:t>
            </a:r>
          </a:p>
          <a:p>
            <a:endParaRPr lang="en-US" dirty="0"/>
          </a:p>
          <a:p>
            <a:pPr>
              <a:buFont typeface="Arial"/>
              <a:buChar char="•"/>
            </a:pPr>
            <a:r>
              <a:rPr lang="en-US" dirty="0"/>
              <a:t>Posts made in one group are </a:t>
            </a:r>
            <a:r>
              <a:rPr lang="en-US" b="1" dirty="0"/>
              <a:t>not visible</a:t>
            </a:r>
            <a:r>
              <a:rPr lang="en-US" dirty="0"/>
              <a:t> in the others, causing important information to be missed.</a:t>
            </a:r>
          </a:p>
          <a:p>
            <a:pPr>
              <a:buFont typeface="Arial"/>
              <a:buChar char="•"/>
            </a:pPr>
            <a:endParaRPr lang="en-US" dirty="0"/>
          </a:p>
          <a:p>
            <a:pPr>
              <a:buFont typeface="Arial"/>
              <a:buChar char="•"/>
            </a:pPr>
            <a:r>
              <a:rPr lang="en-US" dirty="0"/>
              <a:t>Lost-and-found announcements are </a:t>
            </a:r>
            <a:r>
              <a:rPr lang="en-US" b="1" dirty="0"/>
              <a:t>scattered across different groups</a:t>
            </a:r>
            <a:r>
              <a:rPr lang="en-US" dirty="0"/>
              <a:t>, making it difficult and time-consuming for students to track items.</a:t>
            </a:r>
          </a:p>
          <a:p>
            <a:endParaRPr lang="en-US" dirty="0"/>
          </a:p>
          <a:p>
            <a:pPr>
              <a:buFont typeface="Arial"/>
              <a:buChar char="•"/>
            </a:pPr>
            <a:r>
              <a:rPr lang="en-US" dirty="0"/>
              <a:t>There is a strong need for a </a:t>
            </a:r>
            <a:r>
              <a:rPr lang="en-US" b="1" dirty="0"/>
              <a:t>unified web platform</a:t>
            </a:r>
            <a:r>
              <a:rPr lang="en-US" dirty="0"/>
              <a:t> where all Buy &amp; Sell and Lost &amp; Found posts are consolidated.</a:t>
            </a:r>
          </a:p>
          <a:p>
            <a:pPr>
              <a:buFont typeface="Arial"/>
              <a:buChar char="•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CD8022-3183-AFBE-A717-622BD9B377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476672"/>
            <a:ext cx="2592288" cy="5500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27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821565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Scope:</a:t>
            </a:r>
            <a:endParaRPr lang="en-IN" sz="2400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90B946-8462-F570-BB21-60BAB211FCFF}"/>
              </a:ext>
            </a:extLst>
          </p:cNvPr>
          <p:cNvSpPr txBox="1"/>
          <p:nvPr/>
        </p:nvSpPr>
        <p:spPr>
          <a:xfrm>
            <a:off x="971600" y="1283230"/>
            <a:ext cx="676875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User Authentication</a:t>
            </a:r>
            <a:r>
              <a:rPr lang="en-IN" dirty="0"/>
              <a:t>: Login, logout, and role-based access control (Student/Admin).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Buy &amp; Sell Module</a:t>
            </a:r>
            <a:r>
              <a:rPr lang="en-IN" dirty="0"/>
              <a:t>: Add, edit, delete items, mark as sold, and browse available listings.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Lost &amp; Found Module</a:t>
            </a:r>
            <a:r>
              <a:rPr lang="en-IN" dirty="0"/>
              <a:t>: Add, edit, delete items, and mark lost items as resolved.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Payment Integration</a:t>
            </a:r>
            <a:r>
              <a:rPr lang="en-IN" dirty="0"/>
              <a:t>: Secure online payments using </a:t>
            </a:r>
            <a:r>
              <a:rPr lang="en-IN" dirty="0" err="1"/>
              <a:t>Razorpay</a:t>
            </a:r>
            <a:r>
              <a:rPr lang="en-IN" dirty="0"/>
              <a:t>. Real-Time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Chat System</a:t>
            </a:r>
            <a:r>
              <a:rPr lang="en-IN" dirty="0"/>
              <a:t>: Enables communication between buyers and sellers.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Notifications</a:t>
            </a:r>
            <a:r>
              <a:rPr lang="en-IN" dirty="0"/>
              <a:t>: In-app real-time notifications and automated Gmail alerts for important updates.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Image Management</a:t>
            </a:r>
            <a:r>
              <a:rPr lang="en-IN" dirty="0"/>
              <a:t>: Upload and display images for all listed items.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User Dashboard</a:t>
            </a:r>
            <a:r>
              <a:rPr lang="en-IN" dirty="0"/>
              <a:t>: “Your Products” section to track user activity and item status.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Database Storage</a:t>
            </a:r>
            <a:r>
              <a:rPr lang="en-IN" dirty="0"/>
              <a:t>: Lightweight and efficient storage using SQLite. UI/UX: Simple and modern interface built with Flask + HTML/CSS. </a:t>
            </a:r>
          </a:p>
        </p:txBody>
      </p:sp>
    </p:spTree>
    <p:extLst>
      <p:ext uri="{BB962C8B-B14F-4D97-AF65-F5344CB8AC3E}">
        <p14:creationId xmlns:p14="http://schemas.microsoft.com/office/powerpoint/2010/main" val="2184336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821565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Limitations:</a:t>
            </a:r>
            <a:endParaRPr lang="en-IN" sz="2400" dirty="0">
              <a:solidFill>
                <a:srgbClr val="7030A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1421" y="1829723"/>
            <a:ext cx="8208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Not yet cloud-deployed (local only)</a:t>
            </a:r>
          </a:p>
          <a:p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No moderation or verification of posts</a:t>
            </a:r>
          </a:p>
        </p:txBody>
      </p:sp>
    </p:spTree>
    <p:extLst>
      <p:ext uri="{BB962C8B-B14F-4D97-AF65-F5344CB8AC3E}">
        <p14:creationId xmlns:p14="http://schemas.microsoft.com/office/powerpoint/2010/main" val="4231734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8032" y="188640"/>
            <a:ext cx="2952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Architecture Diagram:</a:t>
            </a:r>
            <a:endParaRPr lang="en-IN" sz="2400" dirty="0">
              <a:solidFill>
                <a:srgbClr val="7030A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892174"/>
            <a:ext cx="5419303" cy="5572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5927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821565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Technologies Used:</a:t>
            </a:r>
            <a:endParaRPr lang="en-IN" sz="2400" dirty="0">
              <a:solidFill>
                <a:srgbClr val="7030A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3528" y="1628800"/>
            <a:ext cx="324036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Frontend:</a:t>
            </a:r>
          </a:p>
          <a:p>
            <a:endParaRPr lang="en-US" sz="2400" b="1" dirty="0"/>
          </a:p>
          <a:p>
            <a:pPr marL="342900" indent="-342900">
              <a:buFont typeface="Arial" pitchFamily="34" charset="0"/>
              <a:buChar char="•"/>
            </a:pPr>
            <a:r>
              <a:rPr lang="fr-FR" dirty="0"/>
              <a:t>HTML5, CSS3</a:t>
            </a:r>
          </a:p>
          <a:p>
            <a:endParaRPr lang="fr-FR" dirty="0"/>
          </a:p>
          <a:p>
            <a:pPr marL="342900" indent="-342900">
              <a:buFont typeface="Arial" pitchFamily="34" charset="0"/>
              <a:buChar char="•"/>
            </a:pPr>
            <a:r>
              <a:rPr lang="fr-FR" dirty="0"/>
              <a:t>JavaScript (UI interactions)</a:t>
            </a:r>
          </a:p>
          <a:p>
            <a:pPr marL="342900" indent="-342900">
              <a:buFont typeface="Arial" pitchFamily="34" charset="0"/>
              <a:buChar char="•"/>
            </a:pPr>
            <a:endParaRPr lang="fr-FR" dirty="0"/>
          </a:p>
          <a:p>
            <a:pPr marL="342900" indent="-342900">
              <a:buFont typeface="Arial" pitchFamily="34" charset="0"/>
              <a:buChar char="•"/>
            </a:pPr>
            <a:r>
              <a:rPr lang="fr-FR" dirty="0"/>
              <a:t>Jinja2 </a:t>
            </a:r>
            <a:r>
              <a:rPr lang="fr-FR" dirty="0" err="1"/>
              <a:t>templating</a:t>
            </a:r>
            <a:endParaRPr lang="fr-FR" dirty="0"/>
          </a:p>
        </p:txBody>
      </p:sp>
      <p:sp>
        <p:nvSpPr>
          <p:cNvPr id="6" name="TextBox 5"/>
          <p:cNvSpPr txBox="1"/>
          <p:nvPr/>
        </p:nvSpPr>
        <p:spPr>
          <a:xfrm>
            <a:off x="4355976" y="1628799"/>
            <a:ext cx="33123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Backend:</a:t>
            </a:r>
          </a:p>
          <a:p>
            <a:endParaRPr lang="en-US" sz="2400" b="1" dirty="0"/>
          </a:p>
          <a:p>
            <a:pPr marL="342900" indent="-342900">
              <a:buFont typeface="Arial" pitchFamily="34" charset="0"/>
              <a:buChar char="•"/>
            </a:pPr>
            <a:r>
              <a:rPr lang="fr-FR" dirty="0"/>
              <a:t>Python </a:t>
            </a:r>
            <a:r>
              <a:rPr lang="fr-FR" dirty="0" err="1"/>
              <a:t>Flask</a:t>
            </a:r>
            <a:endParaRPr lang="fr-FR" dirty="0"/>
          </a:p>
          <a:p>
            <a:endParaRPr lang="fr-FR" dirty="0"/>
          </a:p>
          <a:p>
            <a:pPr marL="342900" indent="-342900">
              <a:buFont typeface="Arial" pitchFamily="34" charset="0"/>
              <a:buChar char="•"/>
            </a:pPr>
            <a:r>
              <a:rPr lang="fr-FR" dirty="0"/>
              <a:t>Session-</a:t>
            </a:r>
            <a:r>
              <a:rPr lang="fr-FR" dirty="0" err="1"/>
              <a:t>based</a:t>
            </a:r>
            <a:r>
              <a:rPr lang="fr-FR" dirty="0"/>
              <a:t> </a:t>
            </a:r>
            <a:r>
              <a:rPr lang="fr-FR" dirty="0" err="1"/>
              <a:t>authentication</a:t>
            </a:r>
            <a:endParaRPr lang="fr-FR" dirty="0"/>
          </a:p>
          <a:p>
            <a:pPr marL="342900" indent="-342900">
              <a:buFont typeface="Arial" pitchFamily="34" charset="0"/>
              <a:buChar char="•"/>
            </a:pPr>
            <a:endParaRPr lang="fr-FR" dirty="0"/>
          </a:p>
        </p:txBody>
      </p:sp>
      <p:sp>
        <p:nvSpPr>
          <p:cNvPr id="7" name="TextBox 6"/>
          <p:cNvSpPr txBox="1"/>
          <p:nvPr/>
        </p:nvSpPr>
        <p:spPr>
          <a:xfrm>
            <a:off x="467544" y="4365104"/>
            <a:ext cx="324036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Database:</a:t>
            </a:r>
          </a:p>
          <a:p>
            <a:endParaRPr lang="en-US" sz="2400" b="1" dirty="0"/>
          </a:p>
          <a:p>
            <a:pPr marL="342900" indent="-342900">
              <a:buFont typeface="Arial" pitchFamily="34" charset="0"/>
              <a:buChar char="•"/>
            </a:pPr>
            <a:r>
              <a:rPr lang="fr-FR" dirty="0"/>
              <a:t>SQLite3</a:t>
            </a:r>
          </a:p>
          <a:p>
            <a:endParaRPr lang="fr-FR" dirty="0"/>
          </a:p>
          <a:p>
            <a:pPr marL="342900" indent="-342900">
              <a:buFont typeface="Arial" pitchFamily="34" charset="0"/>
              <a:buChar char="•"/>
            </a:pPr>
            <a:r>
              <a:rPr lang="fr-FR" dirty="0"/>
              <a:t>SQL CRUD </a:t>
            </a:r>
            <a:r>
              <a:rPr lang="fr-FR" dirty="0" err="1"/>
              <a:t>operations</a:t>
            </a:r>
            <a:endParaRPr lang="fr-FR" dirty="0"/>
          </a:p>
        </p:txBody>
      </p:sp>
      <p:sp>
        <p:nvSpPr>
          <p:cNvPr id="8" name="TextBox 7"/>
          <p:cNvSpPr txBox="1"/>
          <p:nvPr/>
        </p:nvSpPr>
        <p:spPr>
          <a:xfrm>
            <a:off x="4427984" y="4397105"/>
            <a:ext cx="388843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Storage:</a:t>
            </a:r>
          </a:p>
          <a:p>
            <a:endParaRPr lang="en-US" sz="2400" b="1" dirty="0"/>
          </a:p>
          <a:p>
            <a:pPr marL="342900" indent="-342900">
              <a:buFont typeface="Arial" pitchFamily="34" charset="0"/>
              <a:buChar char="•"/>
            </a:pPr>
            <a:r>
              <a:rPr lang="fr-FR" dirty="0" err="1"/>
              <a:t>Static</a:t>
            </a:r>
            <a:r>
              <a:rPr lang="fr-FR" dirty="0"/>
              <a:t> file </a:t>
            </a:r>
            <a:r>
              <a:rPr lang="fr-FR" dirty="0" err="1"/>
              <a:t>storage</a:t>
            </a:r>
            <a:r>
              <a:rPr lang="fr-FR" dirty="0"/>
              <a:t>  (</a:t>
            </a:r>
            <a:r>
              <a:rPr lang="fr-FR" dirty="0" err="1"/>
              <a:t>static</a:t>
            </a:r>
            <a:r>
              <a:rPr lang="fr-FR" dirty="0"/>
              <a:t>/</a:t>
            </a:r>
            <a:r>
              <a:rPr lang="fr-FR" dirty="0" err="1"/>
              <a:t>uploads</a:t>
            </a:r>
            <a:r>
              <a:rPr lang="fr-FR" dirty="0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321720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188640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Module Overview:</a:t>
            </a:r>
            <a:endParaRPr lang="en-IN" sz="2400" dirty="0">
              <a:solidFill>
                <a:srgbClr val="7030A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3159" y="797803"/>
            <a:ext cx="36004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Authentication Module:</a:t>
            </a:r>
          </a:p>
          <a:p>
            <a:endParaRPr lang="en-US" sz="2400" b="1" dirty="0"/>
          </a:p>
          <a:p>
            <a:pPr marL="342900" indent="-342900">
              <a:buFont typeface="Arial" pitchFamily="34" charset="0"/>
              <a:buChar char="•"/>
            </a:pPr>
            <a:r>
              <a:rPr lang="fr-FR" dirty="0" err="1"/>
              <a:t>Register</a:t>
            </a:r>
            <a:r>
              <a:rPr lang="fr-FR" dirty="0"/>
              <a:t>/  Login/ </a:t>
            </a:r>
            <a:r>
              <a:rPr lang="fr-FR" dirty="0" err="1"/>
              <a:t>Logout</a:t>
            </a:r>
            <a:endParaRPr lang="fr-FR" dirty="0"/>
          </a:p>
          <a:p>
            <a:endParaRPr lang="fr-FR" dirty="0"/>
          </a:p>
          <a:p>
            <a:pPr marL="342900" indent="-342900">
              <a:buFont typeface="Arial" pitchFamily="34" charset="0"/>
              <a:buChar char="•"/>
            </a:pPr>
            <a:r>
              <a:rPr lang="fr-FR" dirty="0" err="1"/>
              <a:t>Admin</a:t>
            </a:r>
            <a:r>
              <a:rPr lang="fr-FR" dirty="0"/>
              <a:t> </a:t>
            </a:r>
            <a:r>
              <a:rPr lang="fr-FR" dirty="0" err="1"/>
              <a:t>verification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passkey</a:t>
            </a:r>
            <a:endParaRPr lang="fr-FR" dirty="0"/>
          </a:p>
        </p:txBody>
      </p:sp>
      <p:sp>
        <p:nvSpPr>
          <p:cNvPr id="6" name="TextBox 5"/>
          <p:cNvSpPr txBox="1"/>
          <p:nvPr/>
        </p:nvSpPr>
        <p:spPr>
          <a:xfrm>
            <a:off x="4395557" y="548680"/>
            <a:ext cx="331236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Lost &amp; Found:</a:t>
            </a:r>
          </a:p>
          <a:p>
            <a:endParaRPr lang="en-US" sz="2400" b="1" dirty="0"/>
          </a:p>
          <a:p>
            <a:pPr marL="342900" indent="-342900">
              <a:buFont typeface="Arial" pitchFamily="34" charset="0"/>
              <a:buChar char="•"/>
            </a:pP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Lost</a:t>
            </a:r>
            <a:r>
              <a:rPr lang="fr-FR" dirty="0"/>
              <a:t>/</a:t>
            </a:r>
            <a:r>
              <a:rPr lang="fr-FR" dirty="0" err="1"/>
              <a:t>Found</a:t>
            </a:r>
            <a:r>
              <a:rPr lang="fr-FR" dirty="0"/>
              <a:t> item</a:t>
            </a:r>
          </a:p>
          <a:p>
            <a:endParaRPr lang="fr-FR" dirty="0"/>
          </a:p>
          <a:p>
            <a:pPr marL="342900" indent="-342900">
              <a:buFont typeface="Arial" pitchFamily="34" charset="0"/>
              <a:buChar char="•"/>
            </a:pPr>
            <a:r>
              <a:rPr lang="fr-FR" dirty="0"/>
              <a:t>Edit/</a:t>
            </a:r>
            <a:r>
              <a:rPr lang="fr-FR" dirty="0" err="1"/>
              <a:t>Delete</a:t>
            </a:r>
            <a:endParaRPr lang="fr-FR" dirty="0"/>
          </a:p>
          <a:p>
            <a:pPr marL="342900" indent="-342900">
              <a:buFont typeface="Arial" pitchFamily="34" charset="0"/>
              <a:buChar char="•"/>
            </a:pPr>
            <a:endParaRPr lang="fr-FR" dirty="0"/>
          </a:p>
          <a:p>
            <a:pPr marL="342900" indent="-342900">
              <a:buFont typeface="Arial" pitchFamily="34" charset="0"/>
              <a:buChar char="•"/>
            </a:pPr>
            <a:r>
              <a:rPr lang="fr-FR" dirty="0"/>
              <a:t>Mark as </a:t>
            </a:r>
            <a:r>
              <a:rPr lang="fr-FR" dirty="0" err="1"/>
              <a:t>Resolved</a:t>
            </a:r>
            <a:endParaRPr lang="fr-FR" dirty="0"/>
          </a:p>
          <a:p>
            <a:pPr marL="342900" indent="-342900">
              <a:buFont typeface="Arial" pitchFamily="34" charset="0"/>
              <a:buChar char="•"/>
            </a:pPr>
            <a:endParaRPr lang="fr-FR" dirty="0"/>
          </a:p>
          <a:p>
            <a:pPr marL="342900" indent="-342900">
              <a:buFont typeface="Arial" pitchFamily="34" charset="0"/>
              <a:buChar char="•"/>
            </a:pPr>
            <a:r>
              <a:rPr lang="fr-FR" dirty="0" err="1"/>
              <a:t>View</a:t>
            </a:r>
            <a:r>
              <a:rPr lang="fr-FR" dirty="0"/>
              <a:t> Active /  </a:t>
            </a:r>
            <a:r>
              <a:rPr lang="fr-FR" dirty="0" err="1"/>
              <a:t>Resolved</a:t>
            </a:r>
            <a:r>
              <a:rPr lang="fr-FR" dirty="0"/>
              <a:t> items</a:t>
            </a:r>
          </a:p>
          <a:p>
            <a:pPr marL="342900" indent="-342900">
              <a:buFont typeface="Arial" pitchFamily="34" charset="0"/>
              <a:buChar char="•"/>
            </a:pPr>
            <a:endParaRPr lang="fr-FR" dirty="0"/>
          </a:p>
        </p:txBody>
      </p:sp>
      <p:sp>
        <p:nvSpPr>
          <p:cNvPr id="7" name="TextBox 6"/>
          <p:cNvSpPr txBox="1"/>
          <p:nvPr/>
        </p:nvSpPr>
        <p:spPr>
          <a:xfrm>
            <a:off x="523179" y="3012110"/>
            <a:ext cx="324036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Buy &amp; Sell:</a:t>
            </a:r>
          </a:p>
          <a:p>
            <a:endParaRPr lang="en-US" sz="2400" b="1" dirty="0"/>
          </a:p>
          <a:p>
            <a:pPr marL="342900" indent="-342900">
              <a:buFont typeface="Arial" pitchFamily="34" charset="0"/>
              <a:buChar char="•"/>
            </a:pPr>
            <a:r>
              <a:rPr lang="fr-FR" dirty="0" err="1"/>
              <a:t>Add</a:t>
            </a:r>
            <a:r>
              <a:rPr lang="fr-FR" dirty="0"/>
              <a:t> item</a:t>
            </a:r>
          </a:p>
          <a:p>
            <a:endParaRPr lang="fr-FR" dirty="0"/>
          </a:p>
          <a:p>
            <a:pPr marL="342900" indent="-342900">
              <a:buFont typeface="Arial" pitchFamily="34" charset="0"/>
              <a:buChar char="•"/>
            </a:pPr>
            <a:r>
              <a:rPr lang="fr-FR" dirty="0"/>
              <a:t>Edit/</a:t>
            </a:r>
            <a:r>
              <a:rPr lang="fr-FR" dirty="0" err="1"/>
              <a:t>Delete</a:t>
            </a:r>
            <a:endParaRPr lang="fr-FR" dirty="0"/>
          </a:p>
          <a:p>
            <a:pPr marL="342900" indent="-342900">
              <a:buFont typeface="Arial" pitchFamily="34" charset="0"/>
              <a:buChar char="•"/>
            </a:pPr>
            <a:endParaRPr lang="fr-FR" dirty="0"/>
          </a:p>
          <a:p>
            <a:pPr marL="342900" indent="-342900">
              <a:buFont typeface="Arial" pitchFamily="34" charset="0"/>
              <a:buChar char="•"/>
            </a:pPr>
            <a:r>
              <a:rPr lang="fr-FR" dirty="0"/>
              <a:t>Mark item as </a:t>
            </a:r>
            <a:r>
              <a:rPr lang="fr-FR" dirty="0" err="1"/>
              <a:t>Sold</a:t>
            </a:r>
            <a:endParaRPr lang="fr-FR" dirty="0"/>
          </a:p>
          <a:p>
            <a:pPr marL="342900" indent="-342900">
              <a:buFont typeface="Arial" pitchFamily="34" charset="0"/>
              <a:buChar char="•"/>
            </a:pPr>
            <a:endParaRPr lang="fr-FR" dirty="0"/>
          </a:p>
          <a:p>
            <a:pPr marL="342900" indent="-342900">
              <a:buFont typeface="Arial" pitchFamily="34" charset="0"/>
              <a:buChar char="•"/>
            </a:pPr>
            <a:r>
              <a:rPr lang="fr-FR" dirty="0" err="1"/>
              <a:t>View</a:t>
            </a:r>
            <a:r>
              <a:rPr lang="fr-FR" dirty="0"/>
              <a:t> Active / </a:t>
            </a:r>
            <a:r>
              <a:rPr lang="fr-FR" dirty="0" err="1"/>
              <a:t>Resolved</a:t>
            </a:r>
            <a:r>
              <a:rPr lang="fr-FR" dirty="0"/>
              <a:t>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5556" y="3501008"/>
            <a:ext cx="44969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Dashboard(“Your Products”):</a:t>
            </a:r>
          </a:p>
          <a:p>
            <a:endParaRPr lang="en-US" sz="2400" b="1" dirty="0"/>
          </a:p>
          <a:p>
            <a:pPr marL="342900" indent="-342900">
              <a:buFont typeface="Arial" pitchFamily="34" charset="0"/>
              <a:buChar char="•"/>
            </a:pPr>
            <a:r>
              <a:rPr lang="fr-FR" dirty="0"/>
              <a:t>All </a:t>
            </a:r>
            <a:r>
              <a:rPr lang="fr-FR" dirty="0" err="1"/>
              <a:t>Buy</a:t>
            </a:r>
            <a:r>
              <a:rPr lang="fr-FR" dirty="0"/>
              <a:t>/</a:t>
            </a:r>
            <a:r>
              <a:rPr lang="fr-FR" dirty="0" err="1"/>
              <a:t>Sell</a:t>
            </a:r>
            <a:r>
              <a:rPr lang="fr-FR" dirty="0"/>
              <a:t> + </a:t>
            </a:r>
            <a:r>
              <a:rPr lang="fr-FR" dirty="0" err="1"/>
              <a:t>Lost</a:t>
            </a:r>
            <a:r>
              <a:rPr lang="fr-FR" dirty="0"/>
              <a:t>/</a:t>
            </a:r>
            <a:r>
              <a:rPr lang="fr-FR" dirty="0" err="1"/>
              <a:t>Found</a:t>
            </a:r>
            <a:r>
              <a:rPr lang="fr-FR" dirty="0"/>
              <a:t> items </a:t>
            </a:r>
            <a:r>
              <a:rPr lang="fr-FR" dirty="0" err="1"/>
              <a:t>posted</a:t>
            </a:r>
            <a:r>
              <a:rPr lang="fr-FR" dirty="0"/>
              <a:t> by </a:t>
            </a:r>
            <a:r>
              <a:rPr lang="fr-FR" dirty="0" err="1"/>
              <a:t>logged</a:t>
            </a:r>
            <a:r>
              <a:rPr lang="fr-FR" dirty="0"/>
              <a:t>-in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95557" y="5099963"/>
            <a:ext cx="388843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Image Upload Module</a:t>
            </a:r>
          </a:p>
          <a:p>
            <a:endParaRPr lang="en-US" sz="2400" b="1" dirty="0"/>
          </a:p>
          <a:p>
            <a:pPr marL="342900" indent="-342900">
              <a:buFont typeface="Arial" pitchFamily="34" charset="0"/>
              <a:buChar char="•"/>
            </a:pPr>
            <a:r>
              <a:rPr lang="fr-FR" dirty="0" err="1"/>
              <a:t>Validates</a:t>
            </a:r>
            <a:r>
              <a:rPr lang="fr-FR" dirty="0"/>
              <a:t> file type</a:t>
            </a:r>
          </a:p>
          <a:p>
            <a:pPr marL="342900" indent="-342900">
              <a:buFont typeface="Arial" pitchFamily="34" charset="0"/>
              <a:buChar char="•"/>
            </a:pPr>
            <a:endParaRPr lang="fr-FR" dirty="0"/>
          </a:p>
          <a:p>
            <a:pPr marL="342900" indent="-342900">
              <a:buFont typeface="Arial" pitchFamily="34" charset="0"/>
              <a:buChar char="•"/>
            </a:pPr>
            <a:r>
              <a:rPr lang="fr-FR" dirty="0"/>
              <a:t>Stores in </a:t>
            </a:r>
            <a:r>
              <a:rPr lang="fr-FR" dirty="0" err="1"/>
              <a:t>static</a:t>
            </a:r>
            <a:r>
              <a:rPr lang="fr-FR" dirty="0"/>
              <a:t>/</a:t>
            </a:r>
            <a:r>
              <a:rPr lang="fr-FR" dirty="0" err="1"/>
              <a:t>uploads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99705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23179" y="188640"/>
            <a:ext cx="4264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Project Contribution Details:</a:t>
            </a:r>
            <a:endParaRPr lang="en-IN" sz="2400" dirty="0">
              <a:solidFill>
                <a:srgbClr val="7030A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3177" y="908720"/>
            <a:ext cx="779323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Chittari</a:t>
            </a:r>
            <a:r>
              <a:rPr lang="en-US" sz="2400" b="1" dirty="0"/>
              <a:t> </a:t>
            </a:r>
            <a:r>
              <a:rPr lang="en-US" sz="2400" b="1" dirty="0" err="1"/>
              <a:t>Vineeth</a:t>
            </a:r>
            <a:r>
              <a:rPr lang="en-US" sz="2400" b="1" dirty="0"/>
              <a:t> </a:t>
            </a:r>
            <a:r>
              <a:rPr lang="en-US" sz="2400" b="1" dirty="0" err="1"/>
              <a:t>Babu</a:t>
            </a:r>
            <a:endParaRPr lang="en-US" sz="2400" b="1" dirty="0"/>
          </a:p>
          <a:p>
            <a:endParaRPr lang="en-US" sz="2400" b="1" dirty="0"/>
          </a:p>
          <a:p>
            <a:pPr marL="342900" indent="-342900">
              <a:buFont typeface="Arial" pitchFamily="34" charset="0"/>
              <a:buChar char="•"/>
            </a:pPr>
            <a:r>
              <a:rPr lang="fr-FR" dirty="0" err="1"/>
              <a:t>Flask</a:t>
            </a:r>
            <a:r>
              <a:rPr lang="fr-FR" dirty="0"/>
              <a:t> </a:t>
            </a:r>
            <a:r>
              <a:rPr lang="fr-FR" dirty="0" err="1"/>
              <a:t>Backend</a:t>
            </a:r>
            <a:endParaRPr lang="fr-FR" dirty="0"/>
          </a:p>
          <a:p>
            <a:pPr marL="342900" indent="-342900">
              <a:buFont typeface="Arial" pitchFamily="34" charset="0"/>
              <a:buChar char="•"/>
            </a:pPr>
            <a:endParaRPr lang="fr-FR" dirty="0"/>
          </a:p>
          <a:p>
            <a:pPr marL="342900" indent="-342900">
              <a:buFont typeface="Arial" pitchFamily="34" charset="0"/>
              <a:buChar char="•"/>
            </a:pPr>
            <a:r>
              <a:rPr lang="fr-FR" dirty="0"/>
              <a:t>DB </a:t>
            </a:r>
            <a:r>
              <a:rPr lang="fr-FR" dirty="0" err="1"/>
              <a:t>schema</a:t>
            </a:r>
            <a:endParaRPr lang="fr-FR" dirty="0"/>
          </a:p>
          <a:p>
            <a:pPr marL="342900" indent="-342900">
              <a:buFont typeface="Arial" pitchFamily="34" charset="0"/>
              <a:buChar char="•"/>
            </a:pPr>
            <a:endParaRPr lang="fr-FR" dirty="0"/>
          </a:p>
          <a:p>
            <a:pPr marL="342900" indent="-342900">
              <a:buFont typeface="Arial" pitchFamily="34" charset="0"/>
              <a:buChar char="•"/>
            </a:pPr>
            <a:r>
              <a:rPr lang="fr-FR" dirty="0"/>
              <a:t>All </a:t>
            </a:r>
            <a:r>
              <a:rPr lang="fr-FR" dirty="0" err="1"/>
              <a:t>core</a:t>
            </a:r>
            <a:r>
              <a:rPr lang="fr-FR" dirty="0"/>
              <a:t> routes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32" y="3501008"/>
            <a:ext cx="779323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Harshith</a:t>
            </a:r>
            <a:r>
              <a:rPr lang="en-US" sz="2400" b="1" dirty="0"/>
              <a:t> </a:t>
            </a:r>
            <a:r>
              <a:rPr lang="en-US" sz="2400" b="1" dirty="0" err="1"/>
              <a:t>Matta</a:t>
            </a:r>
            <a:endParaRPr lang="en-US" sz="2400" b="1" dirty="0"/>
          </a:p>
          <a:p>
            <a:endParaRPr lang="en-US" sz="2400" b="1" dirty="0"/>
          </a:p>
          <a:p>
            <a:pPr marL="342900" indent="-342900">
              <a:buFont typeface="Arial" pitchFamily="34" charset="0"/>
              <a:buChar char="•"/>
            </a:pPr>
            <a:r>
              <a:rPr lang="fr-FR" dirty="0" err="1"/>
              <a:t>Backend</a:t>
            </a:r>
            <a:r>
              <a:rPr lang="fr-FR" dirty="0"/>
              <a:t> </a:t>
            </a:r>
            <a:r>
              <a:rPr lang="fr-FR" dirty="0" err="1"/>
              <a:t>integration</a:t>
            </a:r>
            <a:endParaRPr lang="fr-FR" dirty="0"/>
          </a:p>
          <a:p>
            <a:pPr marL="342900" indent="-342900">
              <a:buFont typeface="Arial" pitchFamily="34" charset="0"/>
              <a:buChar char="•"/>
            </a:pPr>
            <a:endParaRPr lang="fr-FR" dirty="0"/>
          </a:p>
          <a:p>
            <a:pPr marL="342900" indent="-342900">
              <a:buFont typeface="Arial" pitchFamily="34" charset="0"/>
              <a:buChar char="•"/>
            </a:pPr>
            <a:r>
              <a:rPr lang="fr-FR" dirty="0" err="1"/>
              <a:t>Buy</a:t>
            </a:r>
            <a:r>
              <a:rPr lang="fr-FR" dirty="0"/>
              <a:t>/</a:t>
            </a:r>
            <a:r>
              <a:rPr lang="fr-FR" dirty="0" err="1"/>
              <a:t>sell</a:t>
            </a:r>
            <a:r>
              <a:rPr lang="fr-FR" dirty="0"/>
              <a:t> </a:t>
            </a:r>
            <a:r>
              <a:rPr lang="fr-FR" dirty="0" err="1"/>
              <a:t>template</a:t>
            </a:r>
            <a:r>
              <a:rPr lang="fr-FR" dirty="0"/>
              <a:t> </a:t>
            </a:r>
            <a:r>
              <a:rPr lang="fr-FR" dirty="0" err="1"/>
              <a:t>work</a:t>
            </a:r>
            <a:endParaRPr lang="fr-FR" dirty="0"/>
          </a:p>
          <a:p>
            <a:pPr marL="342900" indent="-342900">
              <a:buFont typeface="Arial" pitchFamily="34" charset="0"/>
              <a:buChar char="•"/>
            </a:pPr>
            <a:endParaRPr lang="fr-FR" dirty="0"/>
          </a:p>
          <a:p>
            <a:pPr marL="342900" indent="-342900">
              <a:buFont typeface="Arial" pitchFamily="34" charset="0"/>
              <a:buChar char="•"/>
            </a:pPr>
            <a:r>
              <a:rPr lang="fr-FR" dirty="0" err="1"/>
              <a:t>Lost</a:t>
            </a:r>
            <a:r>
              <a:rPr lang="fr-FR" dirty="0"/>
              <a:t>/</a:t>
            </a:r>
            <a:r>
              <a:rPr lang="fr-FR" dirty="0" err="1"/>
              <a:t>Find</a:t>
            </a:r>
            <a:r>
              <a:rPr lang="fr-FR" dirty="0"/>
              <a:t> </a:t>
            </a:r>
            <a:r>
              <a:rPr lang="fr-FR" dirty="0" err="1"/>
              <a:t>template</a:t>
            </a:r>
            <a:r>
              <a:rPr lang="fr-FR" dirty="0"/>
              <a:t> </a:t>
            </a:r>
            <a:r>
              <a:rPr lang="fr-FR" dirty="0" err="1"/>
              <a:t>work</a:t>
            </a:r>
            <a:endParaRPr lang="fr-FR" dirty="0"/>
          </a:p>
          <a:p>
            <a:endParaRPr lang="fr-FR" dirty="0"/>
          </a:p>
        </p:txBody>
      </p:sp>
      <p:sp>
        <p:nvSpPr>
          <p:cNvPr id="11" name="TextBox 10"/>
          <p:cNvSpPr txBox="1"/>
          <p:nvPr/>
        </p:nvSpPr>
        <p:spPr>
          <a:xfrm>
            <a:off x="4139952" y="908720"/>
            <a:ext cx="779323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Jamala</a:t>
            </a:r>
            <a:r>
              <a:rPr lang="en-US" sz="2400" b="1" dirty="0"/>
              <a:t> Mohan </a:t>
            </a:r>
            <a:r>
              <a:rPr lang="en-US" sz="2400" b="1" dirty="0" err="1"/>
              <a:t>Sai</a:t>
            </a:r>
            <a:r>
              <a:rPr lang="en-US" sz="2400" b="1" dirty="0"/>
              <a:t> </a:t>
            </a:r>
            <a:r>
              <a:rPr lang="en-US" sz="2400" b="1" dirty="0" err="1"/>
              <a:t>Naik</a:t>
            </a:r>
            <a:endParaRPr lang="en-US" sz="2400" b="1" dirty="0"/>
          </a:p>
          <a:p>
            <a:endParaRPr lang="en-US" sz="2400" b="1" dirty="0"/>
          </a:p>
          <a:p>
            <a:pPr marL="342900" indent="-342900">
              <a:buFont typeface="Arial" pitchFamily="34" charset="0"/>
              <a:buChar char="•"/>
            </a:pPr>
            <a:r>
              <a:rPr lang="fr-FR" dirty="0" err="1"/>
              <a:t>Frontend</a:t>
            </a:r>
            <a:r>
              <a:rPr lang="fr-FR" dirty="0"/>
              <a:t> </a:t>
            </a:r>
            <a:r>
              <a:rPr lang="fr-FR" dirty="0" err="1"/>
              <a:t>Styling</a:t>
            </a:r>
            <a:endParaRPr lang="fr-FR" dirty="0"/>
          </a:p>
          <a:p>
            <a:pPr marL="342900" indent="-342900">
              <a:buFont typeface="Arial" pitchFamily="34" charset="0"/>
              <a:buChar char="•"/>
            </a:pPr>
            <a:endParaRPr lang="fr-FR" dirty="0"/>
          </a:p>
          <a:p>
            <a:pPr marL="342900" indent="-342900">
              <a:buFont typeface="Arial" pitchFamily="34" charset="0"/>
              <a:buChar char="•"/>
            </a:pPr>
            <a:r>
              <a:rPr lang="fr-FR" dirty="0"/>
              <a:t>CSS</a:t>
            </a:r>
          </a:p>
          <a:p>
            <a:pPr marL="342900" indent="-342900">
              <a:buFont typeface="Arial" pitchFamily="34" charset="0"/>
              <a:buChar char="•"/>
            </a:pPr>
            <a:endParaRPr lang="fr-FR" dirty="0"/>
          </a:p>
          <a:p>
            <a:pPr marL="342900" indent="-342900">
              <a:buFont typeface="Arial" pitchFamily="34" charset="0"/>
              <a:buChar char="•"/>
            </a:pPr>
            <a:r>
              <a:rPr lang="fr-FR" dirty="0"/>
              <a:t>UI </a:t>
            </a:r>
            <a:r>
              <a:rPr lang="fr-FR" dirty="0" err="1"/>
              <a:t>layout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69558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120" y="764704"/>
            <a:ext cx="5040560" cy="280857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858692"/>
            <a:ext cx="5256584" cy="2975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23528" y="116632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7030A0"/>
                </a:solidFill>
              </a:rPr>
              <a:t>Git</a:t>
            </a:r>
            <a:r>
              <a:rPr lang="en-US" sz="2400" dirty="0">
                <a:solidFill>
                  <a:srgbClr val="7030A0"/>
                </a:solidFill>
              </a:rPr>
              <a:t> Hub Commits:</a:t>
            </a:r>
            <a:endParaRPr lang="en-IN" sz="2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0647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332656"/>
            <a:ext cx="6048672" cy="328409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861048"/>
            <a:ext cx="5544616" cy="28403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128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51" y="836712"/>
            <a:ext cx="3960440" cy="17365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441" y="779635"/>
            <a:ext cx="4090608" cy="17936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51" y="3861048"/>
            <a:ext cx="3944425" cy="194421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8625" y="3861048"/>
            <a:ext cx="4003392" cy="194421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FE0D0C9-C490-651F-2F26-DD2EB10246BC}"/>
              </a:ext>
            </a:extLst>
          </p:cNvPr>
          <p:cNvSpPr txBox="1"/>
          <p:nvPr/>
        </p:nvSpPr>
        <p:spPr>
          <a:xfrm>
            <a:off x="395536" y="188640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Screenshots:</a:t>
            </a:r>
            <a:endParaRPr lang="en-IN" sz="2400" dirty="0">
              <a:solidFill>
                <a:srgbClr val="7030A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C63FC2-A090-0F24-C122-98932EF44C12}"/>
              </a:ext>
            </a:extLst>
          </p:cNvPr>
          <p:cNvSpPr txBox="1"/>
          <p:nvPr/>
        </p:nvSpPr>
        <p:spPr>
          <a:xfrm>
            <a:off x="1409067" y="2611813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 page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E26D7C-9E9C-E5BB-AED9-2487CD8551C8}"/>
              </a:ext>
            </a:extLst>
          </p:cNvPr>
          <p:cNvSpPr txBox="1"/>
          <p:nvPr/>
        </p:nvSpPr>
        <p:spPr>
          <a:xfrm>
            <a:off x="5979848" y="2644015"/>
            <a:ext cx="2016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Home page of </a:t>
            </a:r>
            <a:r>
              <a:rPr lang="en-US" dirty="0" err="1"/>
              <a:t>userc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4F27E8-DEF6-F0F7-A225-CAB341D3508A}"/>
              </a:ext>
            </a:extLst>
          </p:cNvPr>
          <p:cNvSpPr txBox="1"/>
          <p:nvPr/>
        </p:nvSpPr>
        <p:spPr>
          <a:xfrm>
            <a:off x="1498785" y="5830834"/>
            <a:ext cx="1728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Buy and Sell Available items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47FEB6-93F0-C498-22BE-55D6FB56DAA1}"/>
              </a:ext>
            </a:extLst>
          </p:cNvPr>
          <p:cNvSpPr txBox="1"/>
          <p:nvPr/>
        </p:nvSpPr>
        <p:spPr>
          <a:xfrm>
            <a:off x="5949312" y="5830834"/>
            <a:ext cx="1728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Buy and Sell </a:t>
            </a:r>
            <a:r>
              <a:rPr lang="en-US" dirty="0" err="1"/>
              <a:t>Soldout</a:t>
            </a:r>
            <a:r>
              <a:rPr lang="en-US" dirty="0"/>
              <a:t> items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6719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0" y="433824"/>
            <a:ext cx="4265688" cy="1871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61007"/>
            <a:ext cx="4507236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269" y="2956382"/>
            <a:ext cx="3831397" cy="29691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A0C6A55-6103-2B03-1FA0-7EC2B8DF5964}"/>
              </a:ext>
            </a:extLst>
          </p:cNvPr>
          <p:cNvSpPr txBox="1"/>
          <p:nvPr/>
        </p:nvSpPr>
        <p:spPr>
          <a:xfrm>
            <a:off x="899592" y="2310051"/>
            <a:ext cx="1728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Lost and Found Active items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1EB080-14DA-5EA6-F47F-1000E489B924}"/>
              </a:ext>
            </a:extLst>
          </p:cNvPr>
          <p:cNvSpPr txBox="1"/>
          <p:nvPr/>
        </p:nvSpPr>
        <p:spPr>
          <a:xfrm>
            <a:off x="5961522" y="2283303"/>
            <a:ext cx="1728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Lost and Found </a:t>
            </a:r>
          </a:p>
          <a:p>
            <a:r>
              <a:rPr lang="en-US" dirty="0"/>
              <a:t>Resolved items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01B01C-4AC4-051D-BC93-EB918FDF2F17}"/>
              </a:ext>
            </a:extLst>
          </p:cNvPr>
          <p:cNvSpPr txBox="1"/>
          <p:nvPr/>
        </p:nvSpPr>
        <p:spPr>
          <a:xfrm>
            <a:off x="3707904" y="5917251"/>
            <a:ext cx="1728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Your Product list of a user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2623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158" y="260648"/>
            <a:ext cx="4699643" cy="266429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159" y="3418158"/>
            <a:ext cx="4699642" cy="297651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663B12-8FAE-3E3B-00CB-632E754792E0}"/>
              </a:ext>
            </a:extLst>
          </p:cNvPr>
          <p:cNvSpPr txBox="1"/>
          <p:nvPr/>
        </p:nvSpPr>
        <p:spPr>
          <a:xfrm>
            <a:off x="2987824" y="292494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Details of a product item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BF3E46-6738-942A-4547-A425613CCFED}"/>
              </a:ext>
            </a:extLst>
          </p:cNvPr>
          <p:cNvSpPr txBox="1"/>
          <p:nvPr/>
        </p:nvSpPr>
        <p:spPr>
          <a:xfrm>
            <a:off x="3041829" y="6394677"/>
            <a:ext cx="3060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Details of Lost and Found item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0575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54649C-F2AB-3080-234D-76D88F26FD5D}"/>
              </a:ext>
            </a:extLst>
          </p:cNvPr>
          <p:cNvSpPr txBox="1"/>
          <p:nvPr/>
        </p:nvSpPr>
        <p:spPr>
          <a:xfrm>
            <a:off x="523179" y="188640"/>
            <a:ext cx="4264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Added Chat system:</a:t>
            </a:r>
            <a:endParaRPr lang="en-IN" sz="2400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E4797A-993C-E281-F738-A475E7237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674674"/>
            <a:ext cx="7535500" cy="439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716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DB72EE-092B-3866-D42E-2AD866D23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764704"/>
            <a:ext cx="5256584" cy="24061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9A22EE-AFD4-D319-67D8-8B9A026F6ECD}"/>
              </a:ext>
            </a:extLst>
          </p:cNvPr>
          <p:cNvSpPr txBox="1"/>
          <p:nvPr/>
        </p:nvSpPr>
        <p:spPr>
          <a:xfrm>
            <a:off x="523179" y="188640"/>
            <a:ext cx="4264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Added Notification System:</a:t>
            </a:r>
            <a:endParaRPr lang="en-IN" sz="2400" dirty="0">
              <a:solidFill>
                <a:srgbClr val="7030A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C27AC3-A1F5-C287-51B3-3F4DB42C068E}"/>
              </a:ext>
            </a:extLst>
          </p:cNvPr>
          <p:cNvSpPr txBox="1"/>
          <p:nvPr/>
        </p:nvSpPr>
        <p:spPr>
          <a:xfrm>
            <a:off x="395536" y="3573016"/>
            <a:ext cx="42648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Added Categories in the lost and found section :</a:t>
            </a:r>
            <a:endParaRPr lang="en-IN" sz="2400" dirty="0">
              <a:solidFill>
                <a:srgbClr val="7030A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11C231-231E-19DE-B490-93A29A2B1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076" y="4221088"/>
            <a:ext cx="4019848" cy="225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193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224086-0CB4-BB4C-DD7B-A9BC6D6937F9}"/>
              </a:ext>
            </a:extLst>
          </p:cNvPr>
          <p:cNvSpPr txBox="1"/>
          <p:nvPr/>
        </p:nvSpPr>
        <p:spPr>
          <a:xfrm>
            <a:off x="523179" y="188640"/>
            <a:ext cx="4624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Added Gmail Notification System:</a:t>
            </a:r>
            <a:endParaRPr lang="en-IN" sz="2400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A06838-ED9E-087E-87B1-5314B75EC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15" y="980728"/>
            <a:ext cx="4877100" cy="42484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6A9C81-99AD-7FBD-FC65-96AF848716E2}"/>
              </a:ext>
            </a:extLst>
          </p:cNvPr>
          <p:cNvSpPr txBox="1"/>
          <p:nvPr/>
        </p:nvSpPr>
        <p:spPr>
          <a:xfrm>
            <a:off x="5940152" y="1340768"/>
            <a:ext cx="237626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Whenever a new item is posted under a specific category, the system will automatically send a Gmail notification to the user who has reported losing that item.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6358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FC849F-53FA-261C-2C1A-42649CE24AB2}"/>
              </a:ext>
            </a:extLst>
          </p:cNvPr>
          <p:cNvSpPr txBox="1"/>
          <p:nvPr/>
        </p:nvSpPr>
        <p:spPr>
          <a:xfrm>
            <a:off x="467544" y="332656"/>
            <a:ext cx="4264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Added Chat system:</a:t>
            </a:r>
            <a:endParaRPr lang="en-IN" sz="2400" dirty="0">
              <a:solidFill>
                <a:srgbClr val="7030A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DEEE4C-B9B4-641A-5F0C-CB98BD577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908720"/>
            <a:ext cx="3168352" cy="48669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D6049DA-4FC5-098F-811E-07B00EEE4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4" y="908720"/>
            <a:ext cx="3744416" cy="486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879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16C91BF-E9D4-2105-0C18-B49B6941E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19" y="692696"/>
            <a:ext cx="4420837" cy="511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892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821565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Challenges :</a:t>
            </a:r>
            <a:endParaRPr lang="en-IN" sz="2400" dirty="0">
              <a:solidFill>
                <a:srgbClr val="7030A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7000" y="1412606"/>
            <a:ext cx="820891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err="1"/>
              <a:t>Razorpay</a:t>
            </a:r>
            <a:r>
              <a:rPr lang="en-US" dirty="0"/>
              <a:t> does not trigger any backend callback on payment failure or cancellation, and since webhooks cannot be tested on localhost, implementing a reliable payment-failed route was not possible.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Anti-scraping </a:t>
            </a:r>
            <a:r>
              <a:rPr lang="en-US" dirty="0" err="1"/>
              <a:t>ProtectionsGoogle</a:t>
            </a:r>
            <a:r>
              <a:rPr lang="en-US" dirty="0"/>
              <a:t> Shopping, Amazon, Flipkart block automated scraping </a:t>
            </a:r>
            <a:r>
              <a:rPr lang="en-US" dirty="0" err="1"/>
              <a:t>aggressively.Many</a:t>
            </a:r>
            <a:r>
              <a:rPr lang="en-US" dirty="0"/>
              <a:t> requests returned blocked pages, empty data, or 429 (Too Many Requests).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Implemented polling in the chat module to support real-time conversations. </a:t>
            </a:r>
          </a:p>
          <a:p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Integrated polling-based app notifications for instant user updates. </a:t>
            </a:r>
          </a:p>
          <a:p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Added automated Gmail notifications to alert users about relevant events.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637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657</Words>
  <Application>Microsoft Office PowerPoint</Application>
  <PresentationFormat>On-screen Show (4:3)</PresentationFormat>
  <Paragraphs>134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IITBay- Buy, Sell &amp; Lost-Found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IITBay- Buy, Sell &amp; Lost-Found</dc:title>
  <dc:creator>DELL</dc:creator>
  <cp:lastModifiedBy>Harshith Matta</cp:lastModifiedBy>
  <cp:revision>14</cp:revision>
  <dcterms:created xsi:type="dcterms:W3CDTF">2025-11-24T08:10:04Z</dcterms:created>
  <dcterms:modified xsi:type="dcterms:W3CDTF">2025-11-26T04:34:01Z</dcterms:modified>
</cp:coreProperties>
</file>